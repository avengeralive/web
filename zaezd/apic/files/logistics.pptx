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76" autoAdjust="0"/>
  </p:normalViewPr>
  <p:slideViewPr>
    <p:cSldViewPr>
      <p:cViewPr>
        <p:scale>
          <a:sx n="80" d="100"/>
          <a:sy n="80" d="100"/>
        </p:scale>
        <p:origin x="-1157" y="2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3294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log@apic.ru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00458F-6F3D-4B4F-A691-632EE6F7E89C}" type="datetimeFigureOut">
              <a:rPr lang="ru-RU" smtClean="0"/>
              <a:t>07.10.2013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log@apic.ru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718FE3-4825-4560-992C-D485D0B85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3323728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88640" y="8604448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log@apic.ru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C2FFC-C3F2-442A-B1ED-1ED6124485E7}" type="datetimeFigureOut">
              <a:rPr lang="ru-RU" smtClean="0"/>
              <a:t>07.10.2013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28761" y="2377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log@apic.ru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BF2421-A996-49DC-9F3D-B833CBC62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304339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Верхний колонтитул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log@apic.ru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log@apic.ru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F2421-A996-49DC-9F3D-B833CBC6280C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4473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Верхний колонтитул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log@apic.ru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log@apic.ru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F2421-A996-49DC-9F3D-B833CBC6280C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4473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Верхний колонтитул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log@apic.ru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log@apic.ru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F2421-A996-49DC-9F3D-B833CBC6280C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4473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Верхний колонтитул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log@apic.ru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log@apic.ru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F2421-A996-49DC-9F3D-B833CBC6280C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4473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Верхний колонтитул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log@apic.ru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log@apic.ru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F2421-A996-49DC-9F3D-B833CBC6280C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4473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Верхний колонтитул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log@apic.ru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log@apic.ru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F2421-A996-49DC-9F3D-B833CBC6280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473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0B4B7-76DF-4984-BB8F-FDA65E3F5F69}" type="datetime1">
              <a:rPr lang="ru-RU" smtClean="0"/>
              <a:t>07.10.2013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log@apic.ru</a:t>
            </a: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FCD7C-79C8-42AF-A84A-BD5C8FA4AD3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5ED7-1355-4716-A442-ABB0C5A28CC8}" type="datetime1">
              <a:rPr lang="ru-RU" smtClean="0"/>
              <a:t>07.10.2013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log@apic.ru</a:t>
            </a: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FCD7C-79C8-42AF-A84A-BD5C8FA4AD3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C27A8-2D86-438E-A039-C793763143D9}" type="datetime1">
              <a:rPr lang="ru-RU" smtClean="0"/>
              <a:t>07.10.2013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log@apic.ru</a:t>
            </a: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FCD7C-79C8-42AF-A84A-BD5C8FA4AD3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C6B1F-80AA-4333-90FB-A61E0D47E9D8}" type="datetime1">
              <a:rPr lang="ru-RU" smtClean="0"/>
              <a:t>07.10.2013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log@apic.ru</a:t>
            </a: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FCD7C-79C8-42AF-A84A-BD5C8FA4AD3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578F-8D4D-4FB8-A82C-66C9E008E828}" type="datetime1">
              <a:rPr lang="ru-RU" smtClean="0"/>
              <a:t>07.10.2013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log@apic.ru</a:t>
            </a: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FCD7C-79C8-42AF-A84A-BD5C8FA4AD3B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9D627-EF75-4374-95EA-C32AE885C177}" type="datetime1">
              <a:rPr lang="ru-RU" smtClean="0"/>
              <a:t>07.10.2013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log@apic.ru</a:t>
            </a: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FCD7C-79C8-42AF-A84A-BD5C8FA4AD3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5E3E4-63CB-41B8-B2E3-B352A53EB68D}" type="datetime1">
              <a:rPr lang="ru-RU" smtClean="0"/>
              <a:t>07.10.2013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log@apic.ru</a:t>
            </a: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FCD7C-79C8-42AF-A84A-BD5C8FA4AD3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64679-08A9-4855-9ADD-63DEC0C89F62}" type="datetime1">
              <a:rPr lang="ru-RU" smtClean="0"/>
              <a:t>07.10.2013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log@apic.ru</a:t>
            </a: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FCD7C-79C8-42AF-A84A-BD5C8FA4AD3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F0FF8-D19E-41D6-A39C-E02A7F832AD2}" type="datetime1">
              <a:rPr lang="ru-RU" smtClean="0"/>
              <a:t>07.10.2013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log@apic.ru</a:t>
            </a:r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FCD7C-79C8-42AF-A84A-BD5C8FA4AD3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2EF8-66AF-454D-81F6-A7D0A9955F44}" type="datetime1">
              <a:rPr lang="ru-RU" smtClean="0"/>
              <a:t>07.10.2013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log@apic.ru</a:t>
            </a: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FCD7C-79C8-42AF-A84A-BD5C8FA4AD3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1AD6F-E76C-4FF9-9F74-36A35606C2F7}" type="datetime1">
              <a:rPr lang="ru-RU" smtClean="0"/>
              <a:t>07.10.2013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log@apic.ru</a:t>
            </a: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FCD7C-79C8-42AF-A84A-BD5C8FA4AD3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EAADE8-A863-4BD3-8938-AEB8CAE6F41F}" type="datetime1">
              <a:rPr lang="ru-RU" smtClean="0"/>
              <a:t>07.10.2013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smtClean="0"/>
              <a:t>log@apic.ru</a:t>
            </a: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41FCD7C-79C8-42AF-A84A-BD5C8FA4AD3B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hf hdr="0" dt="0"/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jpeg"/><Relationship Id="rId5" Type="http://schemas.openxmlformats.org/officeDocument/2006/relationships/hyperlink" Target="http://www.apic.ru/logistics" TargetMode="External"/><Relationship Id="rId4" Type="http://schemas.openxmlformats.org/officeDocument/2006/relationships/hyperlink" Target="mailto:logistics@apic.r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000">
              <a:schemeClr val="bg2">
                <a:tint val="98000"/>
                <a:shade val="90000"/>
                <a:satMod val="160000"/>
                <a:lumMod val="100000"/>
              </a:schemeClr>
            </a:gs>
            <a:gs pos="56000">
              <a:schemeClr val="bg2">
                <a:tint val="95000"/>
                <a:shade val="100000"/>
                <a:satMod val="130000"/>
                <a:alpha val="43000"/>
                <a:lumMod val="86000"/>
              </a:schemeClr>
            </a:gs>
            <a:gs pos="100000">
              <a:schemeClr val="bg2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070291" y="4869161"/>
            <a:ext cx="5637010" cy="720080"/>
          </a:xfrm>
        </p:spPr>
        <p:txBody>
          <a:bodyPr anchor="ctr"/>
          <a:lstStyle/>
          <a:p>
            <a:pPr algn="ctr"/>
            <a:r>
              <a:rPr lang="ru-RU" dirty="0" smtClean="0"/>
              <a:t>Консалтинг – экспертиза - содействие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1520" y="3284984"/>
            <a:ext cx="8640960" cy="1289111"/>
          </a:xfrm>
        </p:spPr>
        <p:txBody>
          <a:bodyPr anchor="ctr"/>
          <a:lstStyle/>
          <a:p>
            <a:pPr marL="182880" indent="0" algn="ctr">
              <a:buNone/>
            </a:pPr>
            <a:r>
              <a:rPr lang="ru-RU" sz="4400" dirty="0" smtClean="0"/>
              <a:t>Логистическая Служба</a:t>
            </a:r>
            <a:endParaRPr lang="ru-RU" sz="4400" dirty="0"/>
          </a:p>
        </p:txBody>
      </p:sp>
      <p:pic>
        <p:nvPicPr>
          <p:cNvPr id="1026" name="Picture 2" descr="http://www.apic.ru/en/template/default/en/img/log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71194"/>
            <a:ext cx="3484181" cy="28701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251520" y="6381328"/>
            <a:ext cx="1828800" cy="365125"/>
          </a:xfrm>
        </p:spPr>
        <p:txBody>
          <a:bodyPr/>
          <a:lstStyle/>
          <a:p>
            <a:pPr algn="l"/>
            <a:fld id="{E41FCD7C-79C8-42AF-A84A-BD5C8FA4AD3B}" type="slidenum">
              <a:rPr lang="ru-RU" smtClean="0"/>
              <a:pPr algn="l"/>
              <a:t>1</a:t>
            </a:fld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3347864" y="6461733"/>
            <a:ext cx="244827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logistics@apic.ru</a:t>
            </a:r>
            <a:endParaRPr lang="ru-RU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23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91"/>
    </mc:Choice>
    <mc:Fallback xmlns="">
      <p:transition spd="slow" advTm="519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8" b="2498"/>
          <a:stretch>
            <a:fillRect/>
          </a:stretch>
        </p:blipFill>
        <p:spPr/>
      </p:pic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395536" y="476672"/>
            <a:ext cx="4032449" cy="54006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ru-RU" sz="2000" b="1" dirty="0"/>
              <a:t>Логистическая служба </a:t>
            </a:r>
            <a:r>
              <a:rPr lang="ru-RU" sz="2000" b="1" dirty="0" smtClean="0"/>
              <a:t>АПИК</a:t>
            </a:r>
          </a:p>
          <a:p>
            <a:pPr marL="0" indent="0" algn="ctr">
              <a:buNone/>
            </a:pPr>
            <a:r>
              <a:rPr lang="ru-RU" sz="2000" dirty="0" smtClean="0"/>
              <a:t>оказывает </a:t>
            </a:r>
            <a:r>
              <a:rPr lang="ru-RU" sz="2000" dirty="0"/>
              <a:t>консультационную поддержку членам ассоциации по </a:t>
            </a:r>
            <a:r>
              <a:rPr lang="ru-RU" sz="2000" dirty="0" smtClean="0"/>
              <a:t>вопросам логистики: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ru-RU" sz="2000" dirty="0" smtClean="0"/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/>
              <a:t>организация перевозок различными видами транспорта, в том числе и международных;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/>
              <a:t>таможенное оформление;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/>
              <a:t>страхование грузов;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/>
              <a:t>договорные аспекты внешнеэкономической деятельности;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/>
              <a:t>организация работы склада;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/>
              <a:t>учет логистических издержек в </a:t>
            </a:r>
            <a:r>
              <a:rPr lang="ru-RU" dirty="0" smtClean="0"/>
              <a:t>ценообразовании.</a:t>
            </a:r>
            <a:endParaRPr lang="ru-RU" dirty="0"/>
          </a:p>
          <a:p>
            <a:pPr marL="0" indent="0" algn="ctr">
              <a:buNone/>
            </a:pP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5652120" y="260648"/>
            <a:ext cx="3352801" cy="365125"/>
          </a:xfrm>
        </p:spPr>
        <p:txBody>
          <a:bodyPr/>
          <a:lstStyle/>
          <a:p>
            <a:pPr algn="r"/>
            <a:r>
              <a:rPr lang="ru-RU" sz="1400" dirty="0" smtClean="0"/>
              <a:t>О логистической службе</a:t>
            </a:r>
            <a:endParaRPr lang="ru-RU" sz="1400" dirty="0"/>
          </a:p>
        </p:txBody>
      </p:sp>
      <p:pic>
        <p:nvPicPr>
          <p:cNvPr id="12" name="Picture 2" descr="http://www.apic.ru/en/template/default/en/img/log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651379"/>
            <a:ext cx="1179925" cy="9719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251520" y="6412111"/>
            <a:ext cx="1828800" cy="365125"/>
          </a:xfrm>
        </p:spPr>
        <p:txBody>
          <a:bodyPr/>
          <a:lstStyle/>
          <a:p>
            <a:pPr algn="l"/>
            <a:fld id="{E41FCD7C-79C8-42AF-A84A-BD5C8FA4AD3B}" type="slidenum">
              <a:rPr lang="ru-RU" smtClean="0"/>
              <a:pPr algn="l"/>
              <a:t>2</a:t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3347864" y="6461733"/>
            <a:ext cx="244827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logistics@apic.ru</a:t>
            </a:r>
            <a:endParaRPr lang="ru-RU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2935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92"/>
    </mc:Choice>
    <mc:Fallback xmlns="">
      <p:transition spd="slow" advTm="5392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5174" y="1616233"/>
            <a:ext cx="4445103" cy="2316823"/>
          </a:xfrm>
        </p:spPr>
      </p:pic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395536" y="476672"/>
            <a:ext cx="4032449" cy="5760640"/>
          </a:xfrm>
        </p:spPr>
        <p:txBody>
          <a:bodyPr anchor="ctr">
            <a:normAutofit lnSpcReduction="10000"/>
          </a:bodyPr>
          <a:lstStyle/>
          <a:p>
            <a:pPr marL="0" indent="0" algn="ctr">
              <a:buNone/>
            </a:pPr>
            <a:r>
              <a:rPr lang="ru-RU" sz="2200" b="1" dirty="0"/>
              <a:t>Логистическая служба </a:t>
            </a:r>
            <a:r>
              <a:rPr lang="ru-RU" sz="2200" b="1" dirty="0" smtClean="0"/>
              <a:t>АПИК</a:t>
            </a:r>
          </a:p>
          <a:p>
            <a:pPr marL="0" indent="0" algn="ctr">
              <a:buNone/>
            </a:pPr>
            <a:r>
              <a:rPr lang="ru-RU" sz="2200" dirty="0" smtClean="0"/>
              <a:t>занимается сопровождением </a:t>
            </a:r>
            <a:r>
              <a:rPr lang="ru-RU" sz="2200" dirty="0"/>
              <a:t>деятельности </a:t>
            </a:r>
            <a:r>
              <a:rPr lang="ru-RU" sz="2200" dirty="0" smtClean="0"/>
              <a:t>членов ассоциации</a:t>
            </a:r>
          </a:p>
          <a:p>
            <a:pPr marL="0" indent="0">
              <a:buNone/>
            </a:pPr>
            <a:r>
              <a:rPr lang="ru-RU" sz="1700" b="1" dirty="0"/>
              <a:t> </a:t>
            </a:r>
            <a:r>
              <a:rPr lang="ru-RU" sz="1700" b="1" dirty="0" smtClean="0"/>
              <a:t>  Цель </a:t>
            </a:r>
            <a:r>
              <a:rPr lang="ru-RU" sz="1700" dirty="0" smtClean="0"/>
              <a:t>- повысить </a:t>
            </a:r>
            <a:r>
              <a:rPr lang="ru-RU" sz="1700" dirty="0"/>
              <a:t>эффективность бизнеса </a:t>
            </a:r>
            <a:r>
              <a:rPr lang="ru-RU" sz="1700" dirty="0" smtClean="0"/>
              <a:t>компаний за счет информационной поддержки и помощи в решении логистических проблем</a:t>
            </a:r>
            <a:r>
              <a:rPr lang="ru-RU" sz="1700" dirty="0"/>
              <a:t>.</a:t>
            </a:r>
          </a:p>
          <a:p>
            <a:pPr marL="0" indent="0">
              <a:buNone/>
            </a:pPr>
            <a:r>
              <a:rPr lang="ru-RU" sz="1700" b="1" dirty="0" smtClean="0"/>
              <a:t>   Стиль</a:t>
            </a:r>
            <a:r>
              <a:rPr lang="ru-RU" sz="1700" dirty="0" smtClean="0"/>
              <a:t> </a:t>
            </a:r>
            <a:r>
              <a:rPr lang="ru-RU" sz="1700" b="1" dirty="0" smtClean="0"/>
              <a:t>работы</a:t>
            </a:r>
            <a:r>
              <a:rPr lang="ru-RU" sz="1700" dirty="0" smtClean="0"/>
              <a:t> - это </a:t>
            </a:r>
            <a:r>
              <a:rPr lang="ru-RU" sz="1700" dirty="0"/>
              <a:t>индивидуальный </a:t>
            </a:r>
            <a:r>
              <a:rPr lang="ru-RU" sz="1700" dirty="0" smtClean="0"/>
              <a:t>подход к каждой проблеме, гарантия конфиденциальности и ориентация на результат</a:t>
            </a:r>
            <a:r>
              <a:rPr lang="ru-RU" sz="1700" dirty="0"/>
              <a:t>.</a:t>
            </a:r>
          </a:p>
          <a:p>
            <a:pPr marL="0" indent="0">
              <a:buNone/>
            </a:pPr>
            <a:r>
              <a:rPr lang="ru-RU" sz="1700" b="1" dirty="0" smtClean="0"/>
              <a:t>   Наши принципы</a:t>
            </a:r>
            <a:r>
              <a:rPr lang="ru-RU" sz="1700" dirty="0" smtClean="0"/>
              <a:t> - ответственность, качество</a:t>
            </a:r>
            <a:r>
              <a:rPr lang="ru-RU" sz="1700" dirty="0"/>
              <a:t>, </a:t>
            </a:r>
            <a:r>
              <a:rPr lang="ru-RU" sz="1700" dirty="0" smtClean="0"/>
              <a:t>оперативность.</a:t>
            </a:r>
            <a:endParaRPr lang="ru-RU" sz="1700" dirty="0"/>
          </a:p>
          <a:p>
            <a:pPr marL="0" indent="0">
              <a:buNone/>
            </a:pPr>
            <a:r>
              <a:rPr lang="ru-RU" sz="1700" dirty="0"/>
              <a:t>Применяя </a:t>
            </a:r>
            <a:r>
              <a:rPr lang="ru-RU" sz="1700" dirty="0" smtClean="0"/>
              <a:t>на практике накопленный </a:t>
            </a:r>
            <a:r>
              <a:rPr lang="ru-RU" sz="1700" dirty="0"/>
              <a:t>опыт, </a:t>
            </a:r>
            <a:r>
              <a:rPr lang="ru-RU" sz="1700" dirty="0" smtClean="0"/>
              <a:t>мы уверены в оптимальности наших решений.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5652120" y="260648"/>
            <a:ext cx="3352801" cy="365125"/>
          </a:xfrm>
        </p:spPr>
        <p:txBody>
          <a:bodyPr/>
          <a:lstStyle/>
          <a:p>
            <a:pPr algn="r"/>
            <a:r>
              <a:rPr lang="ru-RU" sz="1400" dirty="0" smtClean="0"/>
              <a:t>Наши цели и задачи</a:t>
            </a:r>
            <a:endParaRPr lang="ru-RU" sz="1400" dirty="0"/>
          </a:p>
        </p:txBody>
      </p:sp>
      <p:pic>
        <p:nvPicPr>
          <p:cNvPr id="12" name="Picture 2" descr="http://www.apic.ru/en/template/default/en/img/log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651379"/>
            <a:ext cx="1179925" cy="9719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251520" y="6433058"/>
            <a:ext cx="1828800" cy="365125"/>
          </a:xfrm>
        </p:spPr>
        <p:txBody>
          <a:bodyPr/>
          <a:lstStyle/>
          <a:p>
            <a:pPr algn="l"/>
            <a:fld id="{E41FCD7C-79C8-42AF-A84A-BD5C8FA4AD3B}" type="slidenum">
              <a:rPr lang="ru-RU" smtClean="0"/>
              <a:pPr algn="l"/>
              <a:t>3</a:t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3347864" y="6461733"/>
            <a:ext cx="244827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logistics@apic.ru</a:t>
            </a:r>
            <a:endParaRPr lang="ru-RU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936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84"/>
    </mc:Choice>
    <mc:Fallback xmlns="">
      <p:transition spd="slow" advTm="6084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014" y="1616233"/>
            <a:ext cx="3894347" cy="2532847"/>
          </a:xfrm>
        </p:spPr>
      </p:pic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395536" y="476672"/>
            <a:ext cx="4032449" cy="5760640"/>
          </a:xfrm>
        </p:spPr>
        <p:txBody>
          <a:bodyPr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sz="2200" b="1" dirty="0"/>
              <a:t>Логистическая служба </a:t>
            </a:r>
            <a:r>
              <a:rPr lang="ru-RU" sz="2200" b="1" dirty="0" smtClean="0"/>
              <a:t>АПИК</a:t>
            </a:r>
          </a:p>
          <a:p>
            <a:pPr marL="0" indent="0" algn="ctr">
              <a:buNone/>
            </a:pPr>
            <a:r>
              <a:rPr lang="ru-RU" sz="2200" dirty="0"/>
              <a:t>м</a:t>
            </a:r>
            <a:r>
              <a:rPr lang="ru-RU" sz="2200" dirty="0" smtClean="0"/>
              <a:t>ожет оказать содействие в решении логистических задач:</a:t>
            </a:r>
          </a:p>
          <a:p>
            <a:pPr marL="0" indent="0" algn="ctr">
              <a:buNone/>
            </a:pPr>
            <a:endParaRPr lang="ru-RU" sz="2000" dirty="0" smtClean="0"/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/>
              <a:t>выбор перевозчика и оптимизация маршрутов перевозок;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/>
              <a:t>минимизация затрат на перевозку, таможенную очистку и хранение товаров;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/>
              <a:t>формирование рациональной структуры логистической службы компании;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/>
              <a:t>аудит договорных документов, в том числе и внешнеэкономических контрактов с учетом требований валютного и таможенного законодательства;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/>
              <a:t>разработка мер по снижению логистических рисков;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/>
              <a:t>оформление сертификатов и разрешительной документации;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/>
              <a:t>управление </a:t>
            </a:r>
            <a:r>
              <a:rPr lang="ru-RU" dirty="0" smtClean="0"/>
              <a:t>запасами</a:t>
            </a:r>
            <a:r>
              <a:rPr lang="en-US" dirty="0" smtClean="0"/>
              <a:t>;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 smtClean="0"/>
              <a:t>организация поставки товаров по внешнеэкономическим контрактам.</a:t>
            </a: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5652120" y="260648"/>
            <a:ext cx="3352801" cy="365125"/>
          </a:xfrm>
        </p:spPr>
        <p:txBody>
          <a:bodyPr/>
          <a:lstStyle/>
          <a:p>
            <a:pPr algn="r"/>
            <a:r>
              <a:rPr lang="ru-RU" sz="1400" dirty="0" smtClean="0"/>
              <a:t>Наши услуги</a:t>
            </a:r>
            <a:endParaRPr lang="ru-RU" sz="1400" dirty="0"/>
          </a:p>
        </p:txBody>
      </p:sp>
      <p:pic>
        <p:nvPicPr>
          <p:cNvPr id="12" name="Picture 2" descr="http://www.apic.ru/en/template/default/en/img/log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651379"/>
            <a:ext cx="1179925" cy="9719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251520" y="6404385"/>
            <a:ext cx="1828800" cy="365125"/>
          </a:xfrm>
        </p:spPr>
        <p:txBody>
          <a:bodyPr/>
          <a:lstStyle/>
          <a:p>
            <a:pPr algn="l"/>
            <a:fld id="{E41FCD7C-79C8-42AF-A84A-BD5C8FA4AD3B}" type="slidenum">
              <a:rPr lang="ru-RU" smtClean="0"/>
              <a:pPr algn="l"/>
              <a:t>4</a:t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3347864" y="6461733"/>
            <a:ext cx="244827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logistics@apic.ru</a:t>
            </a:r>
            <a:endParaRPr lang="ru-RU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883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75"/>
    </mc:Choice>
    <mc:Fallback xmlns="">
      <p:transition spd="slow" advTm="6075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970" y="1616233"/>
            <a:ext cx="4657482" cy="2748871"/>
          </a:xfrm>
        </p:spPr>
      </p:pic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395536" y="404664"/>
            <a:ext cx="4032449" cy="5400600"/>
          </a:xfrm>
        </p:spPr>
        <p:txBody>
          <a:bodyPr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ru-RU" sz="2600" b="1" dirty="0"/>
              <a:t>Логистическая служба </a:t>
            </a:r>
            <a:r>
              <a:rPr lang="ru-RU" sz="2600" b="1" dirty="0" smtClean="0"/>
              <a:t>АПИК</a:t>
            </a:r>
          </a:p>
          <a:p>
            <a:pPr marL="0" indent="0">
              <a:buNone/>
            </a:pPr>
            <a:r>
              <a:rPr lang="ru-RU" sz="2100" dirty="0"/>
              <a:t>п</a:t>
            </a:r>
            <a:r>
              <a:rPr lang="ru-RU" sz="2100" dirty="0" smtClean="0"/>
              <a:t>роводит экспертизу </a:t>
            </a:r>
            <a:r>
              <a:rPr lang="ru-RU" sz="2100" dirty="0"/>
              <a:t>представленных Клиентами документов </a:t>
            </a:r>
            <a:r>
              <a:rPr lang="ru-RU" sz="2100" dirty="0" smtClean="0"/>
              <a:t>на соответствие </a:t>
            </a:r>
            <a:r>
              <a:rPr lang="ru-RU" sz="2100" dirty="0"/>
              <a:t>действующему законодательству, а </a:t>
            </a:r>
            <a:r>
              <a:rPr lang="ru-RU" sz="2100" dirty="0" smtClean="0"/>
              <a:t>также требованиям </a:t>
            </a:r>
            <a:r>
              <a:rPr lang="ru-RU" sz="2100" dirty="0"/>
              <a:t>государственных </a:t>
            </a:r>
            <a:r>
              <a:rPr lang="ru-RU" sz="2100" dirty="0" smtClean="0"/>
              <a:t>органов</a:t>
            </a:r>
            <a:r>
              <a:rPr lang="ru-RU" sz="2100" dirty="0"/>
              <a:t> </a:t>
            </a:r>
            <a:r>
              <a:rPr lang="ru-RU" sz="2100" dirty="0" smtClean="0"/>
              <a:t>и практическим аспектам ВЭД.</a:t>
            </a:r>
            <a:endParaRPr lang="ru-RU" sz="2100" dirty="0"/>
          </a:p>
          <a:p>
            <a:pPr marL="0" indent="0" algn="ctr">
              <a:buNone/>
            </a:pPr>
            <a:r>
              <a:rPr lang="ru-RU" sz="2200" dirty="0"/>
              <a:t>При проведении экспертизы: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100" dirty="0" smtClean="0"/>
              <a:t>выявляются </a:t>
            </a:r>
            <a:r>
              <a:rPr lang="ru-RU" sz="2100" dirty="0"/>
              <a:t>положения, нарушающие </a:t>
            </a:r>
            <a:r>
              <a:rPr lang="ru-RU" sz="2100" dirty="0" smtClean="0"/>
              <a:t>требования законодательства</a:t>
            </a:r>
            <a:r>
              <a:rPr lang="ru-RU" sz="2100" dirty="0"/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100" dirty="0" smtClean="0"/>
              <a:t>обстоятельства</a:t>
            </a:r>
            <a:r>
              <a:rPr lang="ru-RU" sz="2100" dirty="0"/>
              <a:t>, ухудшающие положение Клиента, </a:t>
            </a:r>
            <a:r>
              <a:rPr lang="ru-RU" sz="2100" dirty="0" smtClean="0"/>
              <a:t>по сравнению </a:t>
            </a:r>
            <a:r>
              <a:rPr lang="ru-RU" sz="2100" dirty="0"/>
              <a:t>с положением его контрагента;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100" dirty="0" smtClean="0"/>
              <a:t>устанавливается необходимость внесения дополнений </a:t>
            </a:r>
            <a:r>
              <a:rPr lang="ru-RU" sz="2100" dirty="0"/>
              <a:t>в документ, подвергающийся экспертизе;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100" dirty="0" smtClean="0"/>
              <a:t>составляется заключение</a:t>
            </a:r>
            <a:r>
              <a:rPr lang="ru-RU" sz="2100" dirty="0"/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100" dirty="0" smtClean="0"/>
              <a:t>при </a:t>
            </a:r>
            <a:r>
              <a:rPr lang="ru-RU" sz="2100" dirty="0"/>
              <a:t>необходимости, составляются </a:t>
            </a:r>
            <a:r>
              <a:rPr lang="ru-RU" sz="2100" dirty="0" smtClean="0"/>
              <a:t>проекты соответствующих </a:t>
            </a:r>
            <a:r>
              <a:rPr lang="ru-RU" sz="2100" dirty="0"/>
              <a:t>документов.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5652120" y="260648"/>
            <a:ext cx="3352801" cy="365125"/>
          </a:xfrm>
        </p:spPr>
        <p:txBody>
          <a:bodyPr/>
          <a:lstStyle/>
          <a:p>
            <a:pPr algn="r"/>
            <a:r>
              <a:rPr lang="ru-RU" sz="1400" dirty="0" smtClean="0"/>
              <a:t>Наши услуги</a:t>
            </a:r>
            <a:endParaRPr lang="ru-RU" sz="1400" dirty="0"/>
          </a:p>
        </p:txBody>
      </p:sp>
      <p:pic>
        <p:nvPicPr>
          <p:cNvPr id="12" name="Picture 2" descr="http://www.apic.ru/en/template/default/en/img/log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651379"/>
            <a:ext cx="1179925" cy="9719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251520" y="6404385"/>
            <a:ext cx="1828800" cy="365125"/>
          </a:xfrm>
        </p:spPr>
        <p:txBody>
          <a:bodyPr/>
          <a:lstStyle/>
          <a:p>
            <a:pPr algn="l"/>
            <a:fld id="{E41FCD7C-79C8-42AF-A84A-BD5C8FA4AD3B}" type="slidenum">
              <a:rPr lang="ru-RU" smtClean="0"/>
              <a:pPr algn="l"/>
              <a:t>5</a:t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3347864" y="6461733"/>
            <a:ext cx="244827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logistics@apic.ru</a:t>
            </a:r>
            <a:endParaRPr lang="ru-RU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085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75"/>
    </mc:Choice>
    <mc:Fallback xmlns="">
      <p:transition spd="slow" advTm="6075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484784"/>
            <a:ext cx="7941778" cy="2481804"/>
          </a:xfrm>
        </p:spPr>
      </p:pic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395536" y="476671"/>
            <a:ext cx="4032449" cy="864097"/>
          </a:xfrm>
        </p:spPr>
        <p:txBody>
          <a:bodyPr anchor="ctr">
            <a:normAutofit fontScale="92500"/>
          </a:bodyPr>
          <a:lstStyle/>
          <a:p>
            <a:pPr marL="0" indent="0" algn="ctr">
              <a:buNone/>
            </a:pPr>
            <a:r>
              <a:rPr lang="ru-RU" sz="2200" b="1" dirty="0"/>
              <a:t>Логистическая служба </a:t>
            </a:r>
            <a:r>
              <a:rPr lang="ru-RU" sz="2200" b="1" dirty="0" smtClean="0"/>
              <a:t>АПИК</a:t>
            </a:r>
          </a:p>
          <a:p>
            <a:pPr marL="0" indent="0" algn="ctr">
              <a:buNone/>
            </a:pPr>
            <a:r>
              <a:rPr lang="ru-RU" sz="2200" dirty="0" smtClean="0"/>
              <a:t>предлагает:</a:t>
            </a:r>
            <a:endParaRPr lang="ru-RU" sz="2000" dirty="0" smtClean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5652120" y="260648"/>
            <a:ext cx="3352801" cy="365125"/>
          </a:xfrm>
        </p:spPr>
        <p:txBody>
          <a:bodyPr/>
          <a:lstStyle/>
          <a:p>
            <a:pPr algn="r"/>
            <a:r>
              <a:rPr lang="ru-RU" sz="1400" dirty="0" smtClean="0"/>
              <a:t>Наши предложения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3347864" y="6461733"/>
            <a:ext cx="244827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logistics@apic.ru</a:t>
            </a:r>
            <a:endParaRPr lang="ru-RU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2" name="Picture 2" descr="http://www.apic.ru/en/template/default/en/img/log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651379"/>
            <a:ext cx="1179925" cy="9719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251520" y="6404385"/>
            <a:ext cx="1828800" cy="365125"/>
          </a:xfrm>
        </p:spPr>
        <p:txBody>
          <a:bodyPr/>
          <a:lstStyle/>
          <a:p>
            <a:pPr algn="l"/>
            <a:fld id="{E41FCD7C-79C8-42AF-A84A-BD5C8FA4AD3B}" type="slidenum">
              <a:rPr lang="ru-RU" smtClean="0"/>
              <a:pPr algn="l"/>
              <a:t>6</a:t>
            </a:fld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683568" y="4221088"/>
            <a:ext cx="6768752" cy="1925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>
              <a:lnSpc>
                <a:spcPct val="80000"/>
              </a:lnSpc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бесплатные консультации для членов ассоциации;</a:t>
            </a:r>
          </a:p>
          <a:p>
            <a:pPr marL="182880" indent="-182880">
              <a:lnSpc>
                <a:spcPct val="80000"/>
              </a:lnSpc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оказание разовых платных услуг на договорной основе;</a:t>
            </a:r>
          </a:p>
          <a:p>
            <a:pPr marL="182880" indent="-182880">
              <a:lnSpc>
                <a:spcPct val="80000"/>
              </a:lnSpc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абонентское обслуживание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состав услуг и тарифы формируются с учетом индивидуальных потребностей Клиента</a:t>
            </a:r>
            <a:r>
              <a:rPr lang="ru-RU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>
              <a:lnSpc>
                <a:spcPct val="80000"/>
              </a:lnSpc>
              <a:buClr>
                <a:schemeClr val="accent6">
                  <a:lumMod val="75000"/>
                </a:schemeClr>
              </a:buClr>
              <a:buSzPct val="130000"/>
            </a:pPr>
            <a:r>
              <a:rPr lang="ru-RU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Мы поможем Вам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</a:pPr>
            <a:r>
              <a:rPr lang="ru-RU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избежать ошибок и сделать бизнес более эффективным.</a:t>
            </a: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630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80"/>
    </mc:Choice>
    <mc:Fallback xmlns="">
      <p:transition spd="slow" advTm="578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379" y="1340769"/>
            <a:ext cx="4275897" cy="2808312"/>
          </a:xfrm>
        </p:spPr>
      </p:pic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395536" y="476672"/>
            <a:ext cx="4032449" cy="5760640"/>
          </a:xfrm>
        </p:spPr>
        <p:txBody>
          <a:bodyPr anchor="ctr">
            <a:normAutofit fontScale="77500" lnSpcReduction="20000"/>
          </a:bodyPr>
          <a:lstStyle/>
          <a:p>
            <a:pPr marL="0" indent="0">
              <a:buNone/>
            </a:pPr>
            <a:r>
              <a:rPr lang="ru-RU" sz="2600" dirty="0"/>
              <a:t>Мы дорожим своей репутацией и </a:t>
            </a:r>
            <a:r>
              <a:rPr lang="ru-RU" sz="2600" dirty="0" smtClean="0"/>
              <a:t>эффективностью бизнеса наших Клиентов</a:t>
            </a:r>
            <a:r>
              <a:rPr lang="ru-RU" sz="2600" dirty="0"/>
              <a:t>.</a:t>
            </a:r>
          </a:p>
          <a:p>
            <a:pPr marL="0" indent="0">
              <a:buNone/>
            </a:pPr>
            <a:r>
              <a:rPr lang="ru-RU" sz="2600" dirty="0" smtClean="0"/>
              <a:t>Мы бережно относимся к бизнесу наших Клиентов и прикладываем все усилия для его процветания.</a:t>
            </a:r>
            <a:endParaRPr lang="ru-RU" sz="2600" dirty="0"/>
          </a:p>
          <a:p>
            <a:pPr marL="0" indent="0">
              <a:buNone/>
            </a:pPr>
            <a:r>
              <a:rPr lang="ru-RU" sz="2600" dirty="0"/>
              <a:t>Мы </a:t>
            </a:r>
            <a:r>
              <a:rPr lang="ru-RU" sz="2600" dirty="0" smtClean="0"/>
              <a:t>уверены, </a:t>
            </a:r>
            <a:r>
              <a:rPr lang="ru-RU" sz="2600" dirty="0"/>
              <a:t>что </a:t>
            </a:r>
            <a:r>
              <a:rPr lang="ru-RU" sz="2600" dirty="0" smtClean="0"/>
              <a:t>польза от нашей деятельности многократно окупает наши гонорары!</a:t>
            </a:r>
            <a:endParaRPr lang="ru-RU" sz="2600" dirty="0"/>
          </a:p>
          <a:p>
            <a:pPr marL="0" indent="0">
              <a:buNone/>
            </a:pPr>
            <a:r>
              <a:rPr lang="ru-RU" sz="2100" b="1" dirty="0">
                <a:solidFill>
                  <a:schemeClr val="tx1"/>
                </a:solidFill>
              </a:rPr>
              <a:t>Наш </a:t>
            </a:r>
            <a:r>
              <a:rPr lang="ru-RU" sz="2100" b="1" dirty="0" smtClean="0">
                <a:solidFill>
                  <a:schemeClr val="tx1"/>
                </a:solidFill>
              </a:rPr>
              <a:t>адрес:</a:t>
            </a:r>
          </a:p>
          <a:p>
            <a:pPr marL="0" indent="0">
              <a:buNone/>
            </a:pPr>
            <a:r>
              <a:rPr lang="ru-RU" sz="2100" dirty="0" smtClean="0">
                <a:solidFill>
                  <a:schemeClr val="tx1"/>
                </a:solidFill>
              </a:rPr>
              <a:t>125499</a:t>
            </a:r>
            <a:r>
              <a:rPr lang="ru-RU" sz="2100" dirty="0">
                <a:solidFill>
                  <a:schemeClr val="tx1"/>
                </a:solidFill>
              </a:rPr>
              <a:t>, Москва, Кронштадтский бульвар, </a:t>
            </a:r>
            <a:r>
              <a:rPr lang="ru-RU" sz="2100" dirty="0" smtClean="0">
                <a:solidFill>
                  <a:schemeClr val="tx1"/>
                </a:solidFill>
              </a:rPr>
              <a:t>владение </a:t>
            </a:r>
            <a:r>
              <a:rPr lang="ru-RU" sz="2100" dirty="0">
                <a:solidFill>
                  <a:schemeClr val="tx1"/>
                </a:solidFill>
              </a:rPr>
              <a:t>35-Б, офис </a:t>
            </a:r>
            <a:r>
              <a:rPr lang="ru-RU" sz="2100" dirty="0" smtClean="0">
                <a:solidFill>
                  <a:schemeClr val="tx1"/>
                </a:solidFill>
              </a:rPr>
              <a:t>3205</a:t>
            </a:r>
            <a:endParaRPr lang="en-US" sz="21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2100" dirty="0">
                <a:solidFill>
                  <a:schemeClr val="tx1"/>
                </a:solidFill>
              </a:rPr>
              <a:t>Телефон/Факс</a:t>
            </a:r>
            <a:r>
              <a:rPr lang="ru-RU" sz="2100" dirty="0" smtClean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ru-RU" sz="2100" dirty="0" smtClean="0">
                <a:solidFill>
                  <a:schemeClr val="tx1"/>
                </a:solidFill>
              </a:rPr>
              <a:t>+</a:t>
            </a:r>
            <a:r>
              <a:rPr lang="ru-RU" sz="2100" dirty="0">
                <a:solidFill>
                  <a:schemeClr val="tx1"/>
                </a:solidFill>
              </a:rPr>
              <a:t>7 495 411-99-88</a:t>
            </a:r>
            <a:r>
              <a:rPr lang="ru-RU" sz="2100" dirty="0" smtClean="0">
                <a:solidFill>
                  <a:schemeClr val="tx1"/>
                </a:solidFill>
              </a:rPr>
              <a:t>,+</a:t>
            </a:r>
            <a:r>
              <a:rPr lang="ru-RU" sz="2100" dirty="0">
                <a:solidFill>
                  <a:schemeClr val="tx1"/>
                </a:solidFill>
              </a:rPr>
              <a:t>7 495 </a:t>
            </a:r>
            <a:r>
              <a:rPr lang="ru-RU" sz="2100" dirty="0" smtClean="0">
                <a:solidFill>
                  <a:schemeClr val="tx1"/>
                </a:solidFill>
              </a:rPr>
              <a:t>411-94-26</a:t>
            </a:r>
            <a:endParaRPr lang="en-US" sz="21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2100" b="1" dirty="0" smtClean="0">
                <a:solidFill>
                  <a:schemeClr val="tx1"/>
                </a:solidFill>
              </a:rPr>
              <a:t>E-</a:t>
            </a:r>
            <a:r>
              <a:rPr lang="ru-RU" sz="2100" b="1" dirty="0" err="1" smtClean="0">
                <a:solidFill>
                  <a:schemeClr val="tx1"/>
                </a:solidFill>
              </a:rPr>
              <a:t>mail</a:t>
            </a:r>
            <a:r>
              <a:rPr lang="ru-RU" sz="2100" b="1" dirty="0">
                <a:solidFill>
                  <a:schemeClr val="tx1"/>
                </a:solidFill>
              </a:rPr>
              <a:t>: </a:t>
            </a:r>
            <a:r>
              <a:rPr lang="en-US" sz="2100" b="1" dirty="0" smtClean="0">
                <a:solidFill>
                  <a:schemeClr val="tx1"/>
                </a:solidFill>
                <a:hlinkClick r:id="rId4"/>
              </a:rPr>
              <a:t>logistics</a:t>
            </a:r>
            <a:r>
              <a:rPr lang="ru-RU" sz="2100" b="1" dirty="0" smtClean="0">
                <a:solidFill>
                  <a:schemeClr val="tx1"/>
                </a:solidFill>
                <a:hlinkClick r:id="rId4"/>
              </a:rPr>
              <a:t>@</a:t>
            </a:r>
            <a:r>
              <a:rPr lang="en-US" sz="2100" b="1" dirty="0" err="1" smtClean="0">
                <a:solidFill>
                  <a:schemeClr val="tx1"/>
                </a:solidFill>
                <a:hlinkClick r:id="rId4"/>
              </a:rPr>
              <a:t>apic</a:t>
            </a:r>
            <a:r>
              <a:rPr lang="ru-RU" sz="2100" b="1" dirty="0" smtClean="0">
                <a:solidFill>
                  <a:schemeClr val="tx1"/>
                </a:solidFill>
                <a:hlinkClick r:id="rId4"/>
              </a:rPr>
              <a:t>.</a:t>
            </a:r>
            <a:r>
              <a:rPr lang="ru-RU" sz="2100" b="1" dirty="0" err="1" smtClean="0">
                <a:solidFill>
                  <a:schemeClr val="tx1"/>
                </a:solidFill>
                <a:hlinkClick r:id="rId4"/>
              </a:rPr>
              <a:t>ru</a:t>
            </a:r>
            <a:endParaRPr lang="ru-RU" sz="21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2100" b="1" dirty="0">
                <a:solidFill>
                  <a:schemeClr val="tx1"/>
                </a:solidFill>
              </a:rPr>
              <a:t>Дополнительную информацию по интересующим </a:t>
            </a:r>
            <a:r>
              <a:rPr lang="ru-RU" sz="2100" b="1" dirty="0" smtClean="0">
                <a:solidFill>
                  <a:schemeClr val="tx1"/>
                </a:solidFill>
              </a:rPr>
              <a:t>Вас вопросам </a:t>
            </a:r>
            <a:r>
              <a:rPr lang="ru-RU" sz="2100" b="1" dirty="0">
                <a:solidFill>
                  <a:schemeClr val="tx1"/>
                </a:solidFill>
              </a:rPr>
              <a:t>Вы можете найти на </a:t>
            </a:r>
            <a:r>
              <a:rPr lang="ru-RU" sz="2100" b="1" dirty="0" smtClean="0">
                <a:solidFill>
                  <a:schemeClr val="tx1"/>
                </a:solidFill>
              </a:rPr>
              <a:t>сайте</a:t>
            </a:r>
            <a:r>
              <a:rPr lang="ru-RU" sz="2100" b="1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ru-RU" sz="2100" b="1" dirty="0" err="1" smtClean="0">
                <a:solidFill>
                  <a:schemeClr val="tx1"/>
                </a:solidFill>
                <a:hlinkClick r:id="rId5"/>
              </a:rPr>
              <a:t>www</a:t>
            </a:r>
            <a:r>
              <a:rPr lang="ru-RU" sz="2100" b="1" dirty="0" smtClean="0">
                <a:solidFill>
                  <a:schemeClr val="tx1"/>
                </a:solidFill>
                <a:hlinkClick r:id="rId5"/>
              </a:rPr>
              <a:t>.</a:t>
            </a:r>
            <a:r>
              <a:rPr lang="en-US" sz="2100" b="1" dirty="0" err="1" smtClean="0">
                <a:solidFill>
                  <a:schemeClr val="tx1"/>
                </a:solidFill>
                <a:hlinkClick r:id="rId5"/>
              </a:rPr>
              <a:t>apic</a:t>
            </a:r>
            <a:r>
              <a:rPr lang="ru-RU" sz="2100" b="1" dirty="0" smtClean="0">
                <a:solidFill>
                  <a:schemeClr val="tx1"/>
                </a:solidFill>
                <a:hlinkClick r:id="rId5"/>
              </a:rPr>
              <a:t>.</a:t>
            </a:r>
            <a:r>
              <a:rPr lang="ru-RU" sz="2100" b="1" dirty="0" err="1" smtClean="0">
                <a:solidFill>
                  <a:schemeClr val="tx1"/>
                </a:solidFill>
                <a:hlinkClick r:id="rId5"/>
              </a:rPr>
              <a:t>ru</a:t>
            </a:r>
            <a:r>
              <a:rPr lang="en-US" sz="2100" b="1" dirty="0" smtClean="0">
                <a:solidFill>
                  <a:schemeClr val="tx1"/>
                </a:solidFill>
                <a:hlinkClick r:id="rId5"/>
              </a:rPr>
              <a:t>/logistics</a:t>
            </a:r>
            <a:r>
              <a:rPr lang="en-US" sz="2100" b="1" dirty="0" smtClean="0">
                <a:solidFill>
                  <a:schemeClr val="tx1"/>
                </a:solidFill>
              </a:rPr>
              <a:t> </a:t>
            </a:r>
            <a:endParaRPr lang="ru-RU" sz="2100" dirty="0">
              <a:solidFill>
                <a:schemeClr val="tx1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5652120" y="260648"/>
            <a:ext cx="3352801" cy="365125"/>
          </a:xfrm>
        </p:spPr>
        <p:txBody>
          <a:bodyPr/>
          <a:lstStyle/>
          <a:p>
            <a:pPr algn="r"/>
            <a:r>
              <a:rPr lang="ru-RU" sz="1400" dirty="0" smtClean="0"/>
              <a:t>Наши контакты</a:t>
            </a:r>
            <a:endParaRPr lang="ru-RU" sz="1400" dirty="0"/>
          </a:p>
        </p:txBody>
      </p:sp>
      <p:pic>
        <p:nvPicPr>
          <p:cNvPr id="12" name="Picture 2" descr="http://www.apic.ru/en/template/default/en/img/logo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651379"/>
            <a:ext cx="1179925" cy="9719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251520" y="6404385"/>
            <a:ext cx="1828800" cy="365125"/>
          </a:xfrm>
        </p:spPr>
        <p:txBody>
          <a:bodyPr/>
          <a:lstStyle/>
          <a:p>
            <a:pPr algn="l"/>
            <a:fld id="{E41FCD7C-79C8-42AF-A84A-BD5C8FA4AD3B}" type="slidenum">
              <a:rPr lang="ru-RU" smtClean="0"/>
              <a:pPr algn="l"/>
              <a:t>7</a:t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3347864" y="6461733"/>
            <a:ext cx="244827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logistics@apic.ru</a:t>
            </a:r>
            <a:endParaRPr lang="ru-RU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425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29"/>
    </mc:Choice>
    <mc:Fallback xmlns="">
      <p:transition spd="slow" advTm="5829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Воздушный поток">
  <a:themeElements>
    <a:clrScheme name="Воздушный поток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Воздушный поток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Воздушный поток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312</TotalTime>
  <Words>440</Words>
  <Application>Microsoft Office PowerPoint</Application>
  <PresentationFormat>Экран (4:3)</PresentationFormat>
  <Paragraphs>91</Paragraphs>
  <Slides>7</Slides>
  <Notes>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Воздушный поток</vt:lpstr>
      <vt:lpstr>Логистическая Служба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Lomtev</dc:creator>
  <cp:lastModifiedBy>Павел</cp:lastModifiedBy>
  <cp:revision>24</cp:revision>
  <dcterms:created xsi:type="dcterms:W3CDTF">2013-10-03T14:07:08Z</dcterms:created>
  <dcterms:modified xsi:type="dcterms:W3CDTF">2013-10-07T10:27:22Z</dcterms:modified>
</cp:coreProperties>
</file>